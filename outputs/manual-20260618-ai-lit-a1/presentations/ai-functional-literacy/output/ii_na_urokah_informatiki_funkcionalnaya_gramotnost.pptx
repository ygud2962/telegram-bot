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7b3fcfa854b91" /><Relationship Type="http://schemas.openxmlformats.org/officeDocument/2006/relationships/extended-properties" Target="/docProps/app.xml" Id="Ra18fc07353b24a01" /><Relationship Type="http://schemas.openxmlformats.org/officeDocument/2006/relationships/officeDocument" Target="/ppt/presentation.xml" Id="Rb6be387b2e04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93bbb8ebe4436"/>
  </p:sldMasterIdLst>
  <p:notesMasterIdLst>
    <p:notesMasterId xmlns:r="http://schemas.openxmlformats.org/officeDocument/2006/relationships" r:id="R05cab08d14d14b93"/>
  </p:notesMasterIdLst>
  <p:sldIdLst>
    <p:sldId xmlns:r="http://schemas.openxmlformats.org/officeDocument/2006/relationships" id="256" r:id="Re69ac53587aa4eb0"/>
    <p:sldId xmlns:r="http://schemas.openxmlformats.org/officeDocument/2006/relationships" id="257" r:id="Rcd8084d0859c4d85"/>
    <p:sldId xmlns:r="http://schemas.openxmlformats.org/officeDocument/2006/relationships" id="258" r:id="R210b81bf952746b7"/>
    <p:sldId xmlns:r="http://schemas.openxmlformats.org/officeDocument/2006/relationships" id="259" r:id="R044e87d50acd4cb1"/>
    <p:sldId xmlns:r="http://schemas.openxmlformats.org/officeDocument/2006/relationships" id="260" r:id="Rb36c5edb79a44bca"/>
    <p:sldId xmlns:r="http://schemas.openxmlformats.org/officeDocument/2006/relationships" id="261" r:id="Re890b58b045c411d"/>
    <p:sldId xmlns:r="http://schemas.openxmlformats.org/officeDocument/2006/relationships" id="262" r:id="R4e1daef355e548c2"/>
    <p:sldId xmlns:r="http://schemas.openxmlformats.org/officeDocument/2006/relationships" id="263" r:id="R0b7661842dd74202"/>
    <p:sldId xmlns:r="http://schemas.openxmlformats.org/officeDocument/2006/relationships" id="264" r:id="Rbeadbff345c74d60"/>
    <p:sldId xmlns:r="http://schemas.openxmlformats.org/officeDocument/2006/relationships" id="265" r:id="R9b9aed6571294edb"/>
    <p:sldId xmlns:r="http://schemas.openxmlformats.org/officeDocument/2006/relationships" id="266" r:id="Rb587a983a4784ef4"/>
    <p:sldId xmlns:r="http://schemas.openxmlformats.org/officeDocument/2006/relationships" id="267" r:id="R95bf6c1ca9dd4d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1b6adab15945d9" /><Relationship Type="http://schemas.openxmlformats.org/officeDocument/2006/relationships/slideMaster" Target="/ppt/slideMasters/slideMaster1.xml" Id="R94e93bbb8ebe4436" /><Relationship Type="http://schemas.openxmlformats.org/officeDocument/2006/relationships/notesMaster" Target="/ppt/notesMasters/notesMaster1.xml" Id="R05cab08d14d14b93" /><Relationship Type="http://schemas.openxmlformats.org/officeDocument/2006/relationships/presProps" Target="/ppt/presProps.xml" Id="R28b8025bc6134135" /><Relationship Type="http://schemas.openxmlformats.org/officeDocument/2006/relationships/viewProps" Target="/ppt/viewProps.xml" Id="Rc4e0df849b2d4b73" /><Relationship Type="http://schemas.openxmlformats.org/officeDocument/2006/relationships/tableStyles" Target="/ppt/tableStyles.xml" Id="Rebfd8fea45304606" /><Relationship Type="http://schemas.openxmlformats.org/officeDocument/2006/relationships/slide" Target="/ppt/slides/slide1.xml" Id="Re69ac53587aa4eb0" /><Relationship Type="http://schemas.openxmlformats.org/officeDocument/2006/relationships/slide" Target="/ppt/slides/slide2.xml" Id="Rcd8084d0859c4d85" /><Relationship Type="http://schemas.openxmlformats.org/officeDocument/2006/relationships/slide" Target="/ppt/slides/slide3.xml" Id="R210b81bf952746b7" /><Relationship Type="http://schemas.openxmlformats.org/officeDocument/2006/relationships/slide" Target="/ppt/slides/slide4.xml" Id="R044e87d50acd4cb1" /><Relationship Type="http://schemas.openxmlformats.org/officeDocument/2006/relationships/slide" Target="/ppt/slides/slide5.xml" Id="Rb36c5edb79a44bca" /><Relationship Type="http://schemas.openxmlformats.org/officeDocument/2006/relationships/slide" Target="/ppt/slides/slide6.xml" Id="Re890b58b045c411d" /><Relationship Type="http://schemas.openxmlformats.org/officeDocument/2006/relationships/slide" Target="/ppt/slides/slide7.xml" Id="R4e1daef355e548c2" /><Relationship Type="http://schemas.openxmlformats.org/officeDocument/2006/relationships/slide" Target="/ppt/slides/slide8.xml" Id="R0b7661842dd74202" /><Relationship Type="http://schemas.openxmlformats.org/officeDocument/2006/relationships/slide" Target="/ppt/slides/slide9.xml" Id="Rbeadbff345c74d60" /><Relationship Type="http://schemas.openxmlformats.org/officeDocument/2006/relationships/slide" Target="/ppt/slides/slide10.xml" Id="R9b9aed6571294edb" /><Relationship Type="http://schemas.openxmlformats.org/officeDocument/2006/relationships/slide" Target="/ppt/slides/slide11.xml" Id="Rb587a983a4784ef4" /><Relationship Type="http://schemas.openxmlformats.org/officeDocument/2006/relationships/slide" Target="/ppt/slides/slide12.xml" Id="R95bf6c1ca9dd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273729bef5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9ff83eb8c44c1" /><Relationship Type="http://schemas.openxmlformats.org/officeDocument/2006/relationships/notesMaster" Target="/ppt/notesMasters/notesMaster1.xml" Id="Rea016729e53e42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c11e1ce5b44bb6" /><Relationship Type="http://schemas.openxmlformats.org/officeDocument/2006/relationships/notesMaster" Target="/ppt/notesMasters/notesMaster1.xml" Id="R686a099cfdf2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2e4602f0c54fa2" /><Relationship Type="http://schemas.openxmlformats.org/officeDocument/2006/relationships/notesMaster" Target="/ppt/notesMasters/notesMaster1.xml" Id="R83bcd86f0007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b2b621896f4a1b" /><Relationship Type="http://schemas.openxmlformats.org/officeDocument/2006/relationships/notesMaster" Target="/ppt/notesMasters/notesMaster1.xml" Id="R9fa6c29d4fcc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cab1ba221453a" /><Relationship Type="http://schemas.openxmlformats.org/officeDocument/2006/relationships/notesMaster" Target="/ppt/notesMasters/notesMaster1.xml" Id="R70f92d2e4d1c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9d96382004b6f" /><Relationship Type="http://schemas.openxmlformats.org/officeDocument/2006/relationships/notesMaster" Target="/ppt/notesMasters/notesMaster1.xml" Id="Rc6f7399c4501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f05df0621242b5" /><Relationship Type="http://schemas.openxmlformats.org/officeDocument/2006/relationships/notesMaster" Target="/ppt/notesMasters/notesMaster1.xml" Id="Re9c46d862ae5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cc9e0d39d04690" /><Relationship Type="http://schemas.openxmlformats.org/officeDocument/2006/relationships/notesMaster" Target="/ppt/notesMasters/notesMaster1.xml" Id="R745400bc46e24f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c7b361d2340d7" /><Relationship Type="http://schemas.openxmlformats.org/officeDocument/2006/relationships/notesMaster" Target="/ppt/notesMasters/notesMaster1.xml" Id="R8c3cb1ede15b41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c35fb681b74bf9" /><Relationship Type="http://schemas.openxmlformats.org/officeDocument/2006/relationships/notesMaster" Target="/ppt/notesMasters/notesMaster1.xml" Id="R8cc4313d33a744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6874cf8cf744bd" /><Relationship Type="http://schemas.openxmlformats.org/officeDocument/2006/relationships/notesMaster" Target="/ppt/notesMasters/notesMaster1.xml" Id="R780237d23e074e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05b39852ac430d" /><Relationship Type="http://schemas.openxmlformats.org/officeDocument/2006/relationships/notesMaster" Target="/ppt/notesMasters/notesMaster1.xml" Id="R8f49b62490c348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c28a3781c49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ebc08fe57f45b9" /><Relationship Type="http://schemas.openxmlformats.org/officeDocument/2006/relationships/slideLayout" Target="/ppt/slideLayouts/slideLayout1.xml" Id="Rb183758957d4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83758957d4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b96e104b44e18" /><Relationship Type="http://schemas.openxmlformats.org/officeDocument/2006/relationships/notesSlide" Target="/ppt/notesSlides/notesSlide1.xml" Id="R18d3821c4b03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50383c0634df6" /><Relationship Type="http://schemas.openxmlformats.org/officeDocument/2006/relationships/notesSlide" Target="/ppt/notesSlides/notesSlide2.xml" Id="R4359bf486f2a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6c7cb1fb4bb3" /><Relationship Type="http://schemas.openxmlformats.org/officeDocument/2006/relationships/notesSlide" Target="/ppt/notesSlides/notesSlide3.xml" Id="Rd6bf542b4952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3d43391f4821" /><Relationship Type="http://schemas.openxmlformats.org/officeDocument/2006/relationships/notesSlide" Target="/ppt/notesSlides/notesSlide4.xml" Id="Ra6e3a860d4fb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336ac7801445e" /><Relationship Type="http://schemas.openxmlformats.org/officeDocument/2006/relationships/notesSlide" Target="/ppt/notesSlides/notesSlide5.xml" Id="Rf845ecef6ba24c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315debde4053" /><Relationship Type="http://schemas.openxmlformats.org/officeDocument/2006/relationships/notesSlide" Target="/ppt/notesSlides/notesSlide6.xml" Id="Rfc24579793114a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c7180499147d2" /><Relationship Type="http://schemas.openxmlformats.org/officeDocument/2006/relationships/notesSlide" Target="/ppt/notesSlides/notesSlide7.xml" Id="R803c447d705c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a575ef0fe4fe2" /><Relationship Type="http://schemas.openxmlformats.org/officeDocument/2006/relationships/notesSlide" Target="/ppt/notesSlides/notesSlide8.xml" Id="Rf421011656bf4c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c73ce074744b1" /><Relationship Type="http://schemas.openxmlformats.org/officeDocument/2006/relationships/notesSlide" Target="/ppt/notesSlides/notesSlide9.xml" Id="R75ca644cd097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68fb27afb489c" /><Relationship Type="http://schemas.openxmlformats.org/officeDocument/2006/relationships/notesSlide" Target="/ppt/notesSlides/notesSlide10.xml" Id="R2b8ecb89646547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e5ec6e37645dd" /><Relationship Type="http://schemas.openxmlformats.org/officeDocument/2006/relationships/notesSlide" Target="/ppt/notesSlides/notesSlide11.xml" Id="R8a39d403d39641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2aba0b6c94183" /><Relationship Type="http://schemas.openxmlformats.org/officeDocument/2006/relationships/notesSlide" Target="/ppt/notesSlides/notesSlide12.xml" Id="Rcacedde481594b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50198-9E96-4BC4-BB70-F231FA7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D5609-B7BF-4E51-AFC7-17AF74C5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413A1-09A7-4467-80CF-56DAC126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FE35-60BC-41A9-BB07-9F30C99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1C862-F571-43E8-95CE-4FB5A48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E4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E4B8"/>
                </a:solidFill>
                <a:latin typeface="Aptos"/>
                <a:ea typeface="Aptos"/>
                <a:cs typeface="Aptos"/>
              </a:rPr>
              <a:t>ИИ НА УРОКАХ ИНФОРМАТИКИ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463B0-E99F-49B7-BCEB-EDEF5D0B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524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Использование ИИ на уроках информатики как средство развития функциональной грамотности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BDBC-0E28-49A9-89A3-40B7D31D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DCC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6DCC5"/>
                </a:solidFill>
                <a:latin typeface="Aptos"/>
                <a:ea typeface="Aptos"/>
                <a:cs typeface="Aptos"/>
              </a:rPr>
              <a:t>20 минут · выступление для педагогов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0E39F-2291-4387-A735-275CE69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59D5-7EA9-4008-9C5D-9B4B2E85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8308B-56B5-43D7-9779-AABB3EB0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Формулируем задачу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E0119-20A0-4A57-B91F-66500CE2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1B9B6-6557-4B7B-BCCA-FB4D4582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3FD66-23E0-4BCD-B151-B9C45B6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Проверяем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3124E-DD63-48BB-A4B7-0096503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C3478-C48D-449A-AB7D-A9154A41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D3D72-82CE-42C4-885C-D8D061EF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72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Объясняем 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22BC8-F337-45C5-806F-016643A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2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Главная рамка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DA744-8AC8-415E-BD3F-D1222CC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43000"/>
            <a:ext cx="18859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ИИ не заменяет учебное действие. Он делает видимыми вопрос, критерии, проверку и ответственность за итог.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BA81C-F8A0-44E9-99AA-EAF95190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005CD-1E5C-429A-AB31-A23564B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85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Функциональная грамотность = знание, примененное в ситуации</a:t>
            </a:r>
          </a:p>
        </p:txBody>
      </p:sp>
    </p:spTree>
    <p:extLst>
      <p:ext uri="{BB962C8B-B14F-4D97-AF65-F5344CB8AC3E}">
        <p14:creationId xmlns:p14="http://schemas.microsoft.com/office/powerpoint/2010/main" val="4095377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15BFA-2C4B-4D84-BFEA-957D4D92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226DB-279F-4981-A462-08A570DA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A7F8A-9060-4A64-BE12-FB58D8DB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22AF8A-DB19-471A-A49D-05B59B0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5686BC-5714-4308-902D-44494184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6914-0090-49DD-876E-9FD389A5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Когда ответ может быть сгенерирован, учебная цель смещается к контролю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9E554-0AE1-47F2-B9A0-36BDB90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4EB9C-4FD8-4CC2-87B2-935F33DA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CAD0D-0F30-401C-ABF8-0FCAE88D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D5D5-6CD7-4573-9951-E8492A36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Было удобно оценивать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8B38-CBFA-4A44-AE94-D834DE11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CD804-6C3A-4588-A0DB-D2B869C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правильный ответ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30713-68E5-4100-84AE-B6A32E7C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1191-3963-402C-880D-9DA5BF94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051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термин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166AF-1341-4390-93AD-46FD0BD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78407-76B9-4847-B435-78DC15F5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814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готовую программу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AED01-E5AC-4A4E-815C-8890052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EFB52-02E2-4381-A32C-5D95605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576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пересказ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41491-724E-42FD-9A81-A50850F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E8FDA-85A1-4C38-B43E-ADA31F12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35758-7B68-436F-9C18-B49D4A9C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Стало важно видеть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1DFF4-4C5F-49DA-82B8-FABE13C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7557E-0F44-48D2-86F9-1400835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289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как поставлена задача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3164F-FE62-4FC4-AA93-96BA1054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57678-4B74-407B-BFCA-B5704C8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051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как проверен ответ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11BBC-0B93-47D2-8646-BE34F1B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0AC26-320B-4337-8DD0-273C1EC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814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где найдена ошибка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B03E5-7CEB-4B29-B435-E16C9BB7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CFD03-784D-4F44-8FAF-DF83335D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576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как объяснен выбор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303B50-DBB4-4271-9238-6A2E574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57D00-117E-44FB-B322-4E10CFC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A83178-BD67-4816-9006-FE42C1F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Роль учителя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4B0BF-CD56-43DE-8748-0377CC4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05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EDCAB-915B-4554-BCFE-5FD8792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289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задает границы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F2A582-5CC1-4896-B901-FDE7DC76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8AAA32-3A95-4989-9679-6D5C8062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051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оценивает процесс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C56E3F-3B4A-443D-9B30-185F910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24BC86-57E8-422A-90C9-A23483CD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814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учит проверке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815295-D9A7-42B7-8457-B196CFE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85C094-7D3F-4D87-8560-279BAAC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576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снимает магию с 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A89467-B044-45AF-BC43-A95E3B07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B41A97-C247-41EE-BA6B-EBE2FFC5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Вывод для урока: ученик должен показать не только итог, но и управление цифровым результатом.</a:t>
            </a:r>
          </a:p>
        </p:txBody>
      </p:sp>
    </p:spTree>
    <p:extLst>
      <p:ext uri="{BB962C8B-B14F-4D97-AF65-F5344CB8AC3E}">
        <p14:creationId xmlns:p14="http://schemas.microsoft.com/office/powerpoint/2010/main" val="15123211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56DE1-CF4A-429E-9303-6A1BD6A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D475C-5A7F-43DA-8BAA-EF62DDCF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0D4BD-9318-46B1-A198-27C9E7DE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30AE82-1590-454E-AA37-AB35AB0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E84C05-85DB-4CA9-89B1-040C54B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ОПРЕДЕЛЕНИЕ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FF12-F952-452A-B23D-F827D2F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Функциональная грамотность в информатике собирается из прикладных цифровых действий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F4F70-D92D-4BAC-8285-E994DE4C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E04F-771D-4097-B738-C3C9DC01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CF21-6E11-4E87-9874-0CD6CEE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Функциональная</a:t>
            </a:r>
          </a:p>
          <a:p xmlns:a="http://schemas.openxmlformats.org/drawingml/2006/main">
            <a:pPr algn="ctr">
              <a:defRPr sz="22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грамотность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CE2D3-EECD-444C-B83E-8412E28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AE977-A8F0-427A-BD9D-734B59B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8A37A-D941-490E-93F4-BFC17AED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Информационная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514D7-C3A4-4802-A89F-24A0787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найти, сравнить, проверить источник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0145F-E37C-4F8F-91B9-562C3044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669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DCD1D-AFAF-4858-B58A-415F8E6F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66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6FD8E-83BC-450D-90D0-9C5F89F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765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Цифровая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FB0F4-633A-4FD8-AFBA-BD09F93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0035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выбрать инструмент и понять 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9AD10-6612-4F84-8532-5F7CC6FF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F2488-FCBF-4D60-92F6-3CD58667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9FD84-F51A-4DA8-8981-47C5A411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Алгоритмическая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D13C6-D0B6-4B05-8817-5CBC4CCB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разложить задачу на шаги и тесты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E197D-1458-44DB-96A7-18845CF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61E6B-4F88-4EF3-B3B5-510D4CED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66281-8BFC-4A15-B1B9-BD9346F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9105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Работа с данными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455FA-AC98-47F9-A84A-EFEFBA3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14900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собрать, представить, сделать вывод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CC310-6815-4C89-A67C-E297B7F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D39AB-597F-4F3C-9F3F-8EE60CBB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07956-2FE3-4D49-B08D-67B10B15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6BB86-999E-46A1-AA95-F6E5593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530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A643F-2871-4228-9FCF-2A3836C8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67350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ИИ полезен, если становится материалом для проверки, уточнения и аргументации.</a:t>
            </a:r>
          </a:p>
        </p:txBody>
      </p:sp>
    </p:spTree>
    <p:extLst>
      <p:ext uri="{BB962C8B-B14F-4D97-AF65-F5344CB8AC3E}">
        <p14:creationId xmlns:p14="http://schemas.microsoft.com/office/powerpoint/2010/main" val="733884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73F68-360C-4673-B738-CB40D635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57CC6-B70B-4AF3-A711-9383773D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6483F-8CD4-4784-9AFB-A06881A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C0EA7A-BB9C-49F7-92FF-2DC4FD29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E9B67F-6E66-4DC8-91CC-4C84C26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ГРАНИЦЫ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D11C3-8FC9-416D-B536-6E75D55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ИИ полезен как черновик и собеседник, но не как источник истины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BBD4D-D299-4A0B-8D69-22363A4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0D3C0-B5A2-4B75-9403-6C85B47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E976F-A275-4C34-8656-86B70E1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1BB28-799D-48E2-AD9F-19B25389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Что можно поручать 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E8DDC-8E7C-4FA0-A47F-FEE95C92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385C3-7B16-409E-8599-11841E21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предложить варианты объяснения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4EE09-0CA4-4271-9CB1-AFCB627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38ED-B3CB-43D7-81A2-B350EF1E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90875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создать черновик плана или задания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8BB04-3208-4CA1-A5C5-86C6BEB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88486-6F04-4337-AB13-CB7B79A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сформулировать тестовые случаи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8B98A-4036-4FDB-A2AA-1946D0BC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AC226-8F9B-4322-88F0-86DE110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86225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помочь найти возможную ошибку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01F08-82A9-4175-91D7-1A407D38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1B0CC-3774-478F-8150-BF9DE357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адаптировать текст под аудиторию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9A86B-EA4D-4A06-B998-D491CD75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1A69F-84F2-4196-8C0D-17072B6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86DC5-5079-4335-9CBE-491DDC8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0"/>
            <a:ext cx="434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Что остается за человеком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96D13-54DE-4048-A99F-07E04E5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BF7E5-59E6-47FD-B158-0080922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432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проверка фактов и источников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D3BC4-5C2D-42CF-B1E9-1DFF293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A38D3B-C5CB-46C3-8EDA-A104620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выбор корректного решения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373EA-8D3B-42A0-8F06-A035D4BE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02B59-43D3-4A5D-B731-4EABD179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защита персональных данных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8D3B98-E3EE-4A6F-ABEA-0775ABD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62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2DACA-06DC-468C-B9AC-4A5047C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учет класса и учебной цели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B9E31-224E-4FE2-9DED-1C9E63B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7525E-17C4-469B-9195-8A022502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ответственность за итоговую работу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C6DFAF-6CE1-4964-8FE3-E6E935D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81700"/>
            <a:ext cx="843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Правило для учеников: ИИ предлагает, человек проверяет.</a:t>
            </a:r>
          </a:p>
        </p:txBody>
      </p:sp>
    </p:spTree>
    <p:extLst>
      <p:ext uri="{BB962C8B-B14F-4D97-AF65-F5344CB8AC3E}">
        <p14:creationId xmlns:p14="http://schemas.microsoft.com/office/powerpoint/2010/main" val="1403452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19FE5-2F83-49A1-8B1E-5AD73796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AB14C-CD98-440C-B937-10AE0CD2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62CF0-F2E2-44C3-B7FC-DA86AF2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ACCAD1-313E-4886-BA22-23B971EB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4525FC-E8E8-44EE-A683-D8079E76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МОДЕЛЬ УРОКА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7708C-EB57-4228-9E66-4C88F60B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Рабочий урок с ИИ строится как цикл постановки, проверки и улучшения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BAAE-B2A1-4790-8DE5-D70B322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501C3-E4CA-4A3C-BE72-77AF952B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4972E-06FF-40A0-B43E-FD00011E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439A3-0329-4536-B531-A08242C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5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5C4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FE1AA-2F2D-49C9-A273-65539F44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013CD-695A-40D5-9BB7-8BC0F2A3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жизненная или учебно-практическая ситуация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5EAE7-9FE5-41F1-B031-E56CA3E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8883A-E793-4D23-A9DB-3E4747C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72C24-D243-4C1E-A519-6C502EA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8067C-48A3-410A-A7D8-9B09144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Запрос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29B1B-6FB7-4F45-A155-D5D321B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цель, данные, ограничения, формат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40002-80A2-4994-8A8A-085D4D32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20ED9-E5E1-401D-B1C5-6F540D99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75893-3DDF-4A74-A83E-5E29F2A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DF58E-8ED8-44AC-AD23-48B9786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Ответ 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928E8-08AC-4873-B334-E68FD138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черновик, гипотеза, вариант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D7FDF-74B1-40F4-92AC-63594224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8A4AF-FA18-4221-AC3A-1148582C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761FE-34E2-4177-B90D-4F6343B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8290C-15C1-43FA-91D9-971E5F7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8202B-DBC2-4848-9149-6EF3FDD3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источники, тесты, учебник, обсуждение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DCB8D-CAA6-4529-865C-28B4A35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391B6-843D-435A-8FC0-1FD08450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65DF7-8C05-4A58-BA31-330FB4C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5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5C4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04F99-6BF5-47FE-9BC5-D8875BC0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Улучшение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582130-611A-4B5E-B007-1D726B7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правка, уточнение, повторный запрос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65A37-DF59-4D63-AF17-16EC461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83122-28D4-43BF-AA57-C842C8CB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028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FC8F2-3CBA-467D-81A9-4F6CB4C2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A761A6-FDD6-45CF-A551-C341CB9A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226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Рефлексия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043B47-F7FD-4C80-8DF6-AA3A290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что сработало и где была ошибка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6A5B2F-8F17-411B-8F61-A796F61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770BDB-1B82-41D7-84A9-5E044E2D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6A95A5-1F4F-4BC5-A0AC-B1644C50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564049-5782-42B5-BE90-B32DECE9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8DCDA8-E71E-4D32-9D1A-83B72E2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626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Если убрать проверку и рефлексию, останется списывание. Если оставить цикл, появляется грамотность.</a:t>
            </a:r>
          </a:p>
        </p:txBody>
      </p:sp>
    </p:spTree>
    <p:extLst>
      <p:ext uri="{BB962C8B-B14F-4D97-AF65-F5344CB8AC3E}">
        <p14:creationId xmlns:p14="http://schemas.microsoft.com/office/powerpoint/2010/main" val="1260897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6B5AC-CD0D-41B9-BACA-8A34B32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E922F-57F8-4D86-8C95-B8E4D367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B35D1-FBDC-42BC-9403-DBA00E4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7EC596-B5DE-4252-ACA5-54731A1F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D428E0-BC11-40BE-86C7-A86B955A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СЦЕНАРИИ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60B6-5520-4FF7-A34E-EB4DAD3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Четыре формата заданий закрывают основные линии функциональной грамотности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71184-FD4C-44AC-9E72-0BEA864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D26A7-762A-488C-A7E0-1CD5BBF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E2CB3-7BA5-4A59-8F93-86AB41A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8C73A-7517-48CA-A8CC-A961C885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Информация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8E6C2-3212-4AC6-BA74-94647B24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проверить спорное утверждение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ACA1D-017F-48F0-8C70-98EB027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критерии надежности, сравнение источников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7D187-0DCB-4EB6-A53C-9A8831B4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512B6-4A2D-4FB2-ACD2-E7D3CCF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D01A0-3297-41DA-9173-4C02A80C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AA6AA-3993-4FC3-BAA5-2011B437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найти ошибку через тесты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B393B-64C3-485E-B5A4-B08DF26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гипотеза, запуск, исправление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769C6-E531-436B-B677-FA9E2A7A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8C4C2-84E5-4C87-98CA-C65B1254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D9BF2-9B24-4148-85EC-640E70A8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BC307-9A63-48C6-AED4-87F667B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построить вывод по таблице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E3131-7713-46CF-92C1-73B87C6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визуализация, интерпретация, ограничения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5B5C7-1550-4E64-96E7-777AC4B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4476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FA18F-762F-40FB-BB1E-A0FAD0B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0A4C2-415B-4206-8420-1D96BA94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FA7D9-CE1B-41DF-81F9-583A16F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создать понятную инструкцию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88C12-107A-4ACE-9A3A-ADDD9D9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аудитория, точность, безопасность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107ED-DDF7-4D58-84DF-7D9F643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436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Общий принцип: ИИ дает материал, ученик доказывает качество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94987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495B4-CDDF-4C6A-A6BB-81B18B4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4300C-669D-484D-B1C1-EAD52EEA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EA0D-EE6C-41C3-A7BE-80980EE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E29277-91EA-4DB1-A6AE-6081159F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AAD86C-C41C-446D-906E-1F31F18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ПРИМЕР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C9160-8167-4A2D-BE97-E1E8881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Проверка спорного утверждения учит не доверять первому цифровому ответу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43FCF-F9D9-49FA-8F6A-617CC6CE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107C8-D52B-48F8-B40A-B0BB94D7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419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89388-5776-40E0-9D67-3135B6C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Утверждение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1D30-468E-4790-8C6F-85208E5C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«Нейросети всегда точнее поисковых систем»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E91DB-12E3-4B5F-A982-BC036B7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D7FB7-089A-4561-B926-9E10C4B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61F5F-E79C-4555-B2D9-8FFB368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Спросить 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415F4-CC49-448D-91F1-0448844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получить план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C9A8C-F14B-4280-A8D3-64563F4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9BC0D-C503-4DC5-94F1-B1562A3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C947F-6CA9-40B5-948D-5078D02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Выбрать критерии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2D769-C13C-472C-9AC0-5FC9F15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767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достоверность, актуальность, проверяемость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920D6-A0E8-4A8C-BCCB-2441D737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7AC77-BA3D-4FFB-945B-2A7F2BDC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7B307-98D0-4250-B752-91E1F91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Сравнить источники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4B027-A8E7-4F37-B572-0E6EC304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6727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найти совпадения и расхождения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6EDF7-F6B9-406A-AC48-6F597D92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C9186-F5FF-4D46-A56B-B90C170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0E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BE097-E948-4592-9DCA-7EBD0168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Сформулировать вывод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18D06-5373-469E-A29B-059DAB5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57825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где ИИ полезен, а где рискован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EC7C85-0ADF-492F-9269-936248D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1719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FC137-A0A1-4B98-867E-2160F8F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B797C-01EB-4C29-BF5B-73DE3B7D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Что развивается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1C3C4-F9C0-4C98-9ED5-1EB6C62F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8A2EB-33D7-4B9B-AFA0-AF9D0E4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видеть проверяемые и непроверяемые утверждения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BF565-1938-4011-A80B-4AEABF4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555206-0152-4E0F-85FA-1B4EBF37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различать объяснение и доказательство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C910B-187D-4451-A739-4D3ACC7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6A4038-B83F-4A89-9594-A39E075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работать с критериями надежности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D800E-C0CC-4ADA-90C3-8B13F27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3957C-67A2-4AF2-A170-AB2A82F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делать вывод с оговорками</a:t>
            </a:r>
          </a:p>
        </p:txBody>
      </p:sp>
    </p:spTree>
    <p:extLst>
      <p:ext uri="{BB962C8B-B14F-4D97-AF65-F5344CB8AC3E}">
        <p14:creationId xmlns:p14="http://schemas.microsoft.com/office/powerpoint/2010/main" val="10186534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FBB5E-FFFE-4F9D-94F9-B3A5082D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68C11-6700-490D-B5D1-D93E44C7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E9008-69EE-4BC4-A30D-A60679FE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E3C211-13F2-443A-8EBB-6DC1F41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68E041-B73F-4973-AAD1-6F3AE930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ПРИМЕР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FF2D3-0BF3-422C-99B5-762C513A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В программировании ИИ лучше использовать для тестов и отладки, а не для готового кода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B336-DF54-45D2-A0AC-E000045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6555-3C74-462F-BE65-F83D50A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572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D81E6-25F1-4A3C-894F-50D1F4FA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Запрос к 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CBB43-4D7A-42BC-BD2F-763144C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3790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Проверь мой алгоритм. Не пиши готовую программу. Предложи 5 тестов и объясни, что каждый тест проверяет.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88743-75E3-4A11-942C-7BD3D4B7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CD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CDB8"/>
                </a:solidFill>
                <a:latin typeface="Aptos"/>
                <a:ea typeface="Aptos"/>
                <a:cs typeface="Aptos"/>
              </a:rPr>
              <a:t>Формулировка ограничивает ИИ и оставляет ключевое действие ученику.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1BA50-4983-4A68-A67F-26ADC41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8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7FF7F-7D27-47EB-923C-59153A5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907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06296-0B84-4C58-9381-BB4BE18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крайний случай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EFD03-2977-4509-9F06-B9772696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6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444F9-0F2E-452F-A244-D4E63B0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65274-93A3-411C-B451-E1F9AFFE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минимальное простое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A0FCA-549E-4143-9812-4E5D1CDE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8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A49F9-F3B8-4EA2-B9C4-315E8A5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956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AEF28-8135-4320-9CD7-C04FDD0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составное нечетное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B1649-7B4E-4352-8128-6D5CA9E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6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E73F3-1422-48C2-A84D-C2FE8BA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01439-5C1F-413B-B71C-8959935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простое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E6608-9EF4-4DAB-9637-23B368A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8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93DB4-EC54-451C-9D62-9FE19E26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005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74CCC-995C-4859-ABD5-81D18EEA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квадрат простого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1BA2F-8837-4F12-9C4F-90066385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29250"/>
            <a:ext cx="457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8C386-DE9A-4BA9-A754-8A301C6F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76900"/>
            <a:ext cx="478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Оцениваем: найденную ошибку, доказательство исправления, объяснение логики тестов.</a:t>
            </a:r>
          </a:p>
        </p:txBody>
      </p:sp>
    </p:spTree>
    <p:extLst>
      <p:ext uri="{BB962C8B-B14F-4D97-AF65-F5344CB8AC3E}">
        <p14:creationId xmlns:p14="http://schemas.microsoft.com/office/powerpoint/2010/main" val="10876006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8A9B5-7C88-4FEC-AF1C-9A1C18DB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56C33-936B-4449-9946-27FDFE5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6ADDA-A148-4551-AEBE-C35B26B2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C6A5CD-3C7C-4C47-B038-542AF43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C456F1-28D8-4503-B08B-B7E5679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ОЦЕНИВАНИЕ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C79DE-8056-4F37-97C3-CF7F4F6F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Оценивать нужно процесс работы с ИИ, иначе инструмент подменит мышление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1D7C5-8970-44F9-8A72-6449902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1F5EA-968F-463E-9D0B-C7DC6A58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Постановка задачи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736FB-E0CD-4B54-9E0B-2712EC1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цель, данные,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1313E-4E85-4C90-A4ED-1B344B3A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581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C4D96-4971-4462-AEFA-975E3669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53454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DEC2A-53F8-478D-9291-A8D65836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812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0-2 балла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DA0FD-A854-4FA6-8DE4-FC4B633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Качество запроса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415C2-EBBE-45D9-B90F-46D8296B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роль, контекст, формат ответа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3FEDF-33B7-46B8-ABC0-8B0BA770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581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4413D-27B1-4B37-B1EB-5A2B71A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47644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ED79E-6818-40CF-898E-A764E8E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479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0-2 балла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FB8E0-3C14-4B9B-8783-E025318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Проверка результата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4BEC5-5C3E-45C4-BB6C-6611D12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источники, тесты, сверка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D2A99-B603-4A00-8FB8-04845CB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581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9A590-7C76-41FC-AE18-68EF0541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55778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5EFF9-09D1-432F-80C9-9440D2C5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147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0-2 балла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07DA2-171A-47D9-8F91-D39EB484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Улучшение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A8DBF-2382-4ADA-AF40-5E417DE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правки после проверки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A9A81-8A94-4D04-A8B8-EC166C4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581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2AA82-7C27-4418-9389-3369190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41833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4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F6019-3FD8-470B-B2B2-BF8BC795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814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0-2 балла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2FAF4-CC7F-4A8B-8187-CE4BCB64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Объяснение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847E1-EEE3-4ABD-84CC-0057CAA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аргументация своими словами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9A596-A2D9-43A2-BAD2-3AB27B5E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581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945E9-1112-4F88-A8BC-6D02994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51130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66ACD-1820-4B8D-9E9A-790DED4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482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0-2 балла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10C93-F2F3-488F-9330-73828191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674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Такая рубрика делает видимым ход работы. Готовый ответ без процесса почти не набирает баллы.</a:t>
            </a:r>
          </a:p>
        </p:txBody>
      </p:sp>
    </p:spTree>
    <p:extLst>
      <p:ext uri="{BB962C8B-B14F-4D97-AF65-F5344CB8AC3E}">
        <p14:creationId xmlns:p14="http://schemas.microsoft.com/office/powerpoint/2010/main" val="1334090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ED0C6-9D2B-4134-8D5C-C7277A54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32959-707B-444D-8BEB-5F76FA2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64520-5F63-4DAD-8616-3D01C58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E7937F-4403-45EE-AE63-823C8418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BD9A09-01C5-4BD0-AA4C-9B37015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БЕЗОПАСНОСТЬ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0D8D-574B-4B5E-AB88-0AF7930A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Правила использования ИИ должны быть ясными до начала задания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AED9D-362A-459B-8665-30261A8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36197-6D1E-4275-938A-B1500F3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646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16466"/>
                </a:solidFill>
                <a:latin typeface="Aptos Display"/>
                <a:ea typeface="Aptos Display"/>
                <a:cs typeface="Aptos Display"/>
              </a:rPr>
              <a:t>Можно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34F28-28BF-42D3-A02D-51A358D6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5C4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85C42"/>
                </a:solidFill>
                <a:latin typeface="Aptos Display"/>
                <a:ea typeface="Aptos Display"/>
                <a:cs typeface="Aptos Display"/>
              </a:rPr>
              <a:t>Нельзя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2BB00-7420-4C0D-8058-5A961215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191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D1600-570A-413B-B338-A32A50C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666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F3449-E8EA-44B1-AFF5-8496CB64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E9065-4AEF-4D56-A54D-7DB01BC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просить объяснение и примеры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53277-0992-4BC8-B1D9-6314B7E7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51B27-E04C-400F-905D-064E7B9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получать идеи тестов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6BA6B-51C8-4718-8D6C-FA46EB3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36FCF-7F05-4569-8444-B68A01A9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сравнивать варианты решения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F8BF7-74FC-49BA-8CD9-368BF44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BCF4E-DA43-458D-85CB-84F5E86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улучшать формулировку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6EFF5-6A0B-4221-A2AC-B6E573D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41910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16BCA-3B53-4816-8E87-15A7923F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666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725D4-E509-41ED-BE4A-3D8583FE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A93C1-8275-4CE0-9AF5-FF66659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вводить персональные данные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0E1A9-70A9-44B4-A3FA-4079A13B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7AD07-64D2-4DCD-A9FE-E2A6EF2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сдавать ответ без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12A11-9168-4525-B642-B28B9A1F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F2CCC-1C38-4BD6-AF02-4C9A234A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скрывать использование 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28C80-BD2E-42DC-9331-259ECCF9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FA509-70DC-4C91-9507-471A7E4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57700"/>
            <a:ext cx="3124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заменять ключевое действие урока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B22ECE-88C2-413C-A8FE-CB38026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71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225E6D-D84B-4875-8C05-E605892C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86450"/>
            <a:ext cx="910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Договор с классом: где ИИ разрешен, как фиксируем использование, что проверяем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3287863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B7A46-C383-4FC1-971A-2769368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259E7-40C0-4442-98D3-11ED1AD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4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8F104-4407-4838-BDB7-093C24F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C560FE0-6310-4EAA-9B7C-A49E3389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B286F6-D101-4C67-899B-71C5C616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4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6466"/>
                </a:solidFill>
                <a:latin typeface="Aptos"/>
                <a:ea typeface="Aptos"/>
                <a:cs typeface="Aptos"/>
              </a:rPr>
              <a:t>ШАБЛОН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D2388-0D73-4EC4-A7C8-3492AAC0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Хороший промпт похож на короткое техническое задание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FAECE-45FF-4715-B337-F664BE71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A5CE0-A6D2-4FD8-B6B1-60D051D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62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1B769-91B2-47D4-A158-04B7E391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E7B8F-2644-4913-8191-A7C672F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Ты помощник по информатике.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F93E0-86CA-4478-B0B1-FD4F413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3462A-EB9B-4D9B-B641-E2855B8F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BD09E-B7DF-442D-99E3-B1230C11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2892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Мне нужно проверить алгоритм / текст / вывод.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1C84E-D7CD-4C40-8F94-B413EBE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2D318-B796-4BAA-BDF8-95B5916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618ED-6846-4109-BE3E-DB76835A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Вот исходные условия и что я уже сделал.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4D52C-986E-44C5-9E8F-BDF8B93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EBE3C-44B7-47C1-BF6D-DCF7AB3A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9572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Ограничения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7958F-7304-4152-92C7-5DB5585A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7667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Не давай готовый ответ. Помоги проверить.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8850C-032C-4B46-8B55-9BEB2F8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CA860-3DFF-47AD-BCBE-C9E7973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30A5E-6E5E-40F8-8496-FECB2E3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Список ошибок, тесты, критерии или план правки.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C7B3E-E572-4193-AB17-11105FA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3123C-C856-41F3-843D-215ED52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434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Контроль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13C03-FA46-4DE4-9419-B2F371F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0E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0E3"/>
                </a:solidFill>
                <a:latin typeface="Aptos"/>
                <a:ea typeface="Aptos"/>
                <a:cs typeface="Aptos"/>
              </a:rPr>
              <a:t>Отметь, что нужно проверить вручную.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E2CB7-DC9B-48D2-A7B4-195725F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D8CD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7F442-FD7E-4005-B811-F45BB12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BEFC8-8B0B-4EF8-99E4-049D541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Почему работает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A651C-B3A3-465A-BDAC-77830FE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5E0C5-A818-492F-9760-9266044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ученик сначала понимает задачу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D2FDA-28E3-460A-9D69-2F129D24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0DEDC-8A4A-40EF-93E0-53E904D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появляются критерии качества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C65BF-25E2-47D6-82F2-F368E2D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103C74-B98D-4F47-AFB6-8BF18C5B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ИИ не получает роль автора работы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4B923C-CE44-46AD-AE79-7D28D49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594DA-8C3B-4F4D-BD45-3D3E3358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1"/>
                </a:solidFill>
                <a:latin typeface="Aptos"/>
                <a:ea typeface="Aptos"/>
                <a:cs typeface="Aptos"/>
              </a:rPr>
              <a:t>проверка встроена в запрос</a:t>
            </a:r>
          </a:p>
        </p:txBody>
      </p:sp>
    </p:spTree>
    <p:extLst>
      <p:ext uri="{BB962C8B-B14F-4D97-AF65-F5344CB8AC3E}">
        <p14:creationId xmlns:p14="http://schemas.microsoft.com/office/powerpoint/2010/main" val="7214495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00D4DA-E3B6-435D-8122-93E33B34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1C0FA-E7D2-4136-B65C-20765CC1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A18B-EFF2-4114-A5F9-EB8017D7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5BDD797-067B-43F2-A7EA-AEAF6FA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4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BCEC0F-27D0-4A39-AB80-C1C31D5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E4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E4B8"/>
                </a:solidFill>
                <a:latin typeface="Aptos"/>
                <a:ea typeface="Aptos"/>
                <a:cs typeface="Aptos"/>
              </a:rPr>
              <a:t>СТАРТ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47CB9-4E0F-4500-A3FE-4337D7A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Начать можно с одного упражнения на 10-15 минут уже на следующем уроке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F782E-E3D2-48DE-ABFF-8D0AE97A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912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DBF9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DBF9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7EE3B-6AF8-4030-861F-311FA701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B4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3B448"/>
                </a:solidFill>
                <a:latin typeface="Aptos"/>
                <a:ea typeface="Aptos"/>
                <a:cs typeface="Aptos"/>
              </a:rPr>
              <a:t>Формула первого шага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C0BB3-6863-41BA-8ADE-CA365277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13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7A404-37BE-4E20-8F97-F94D0FF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1 тема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2559-1951-4D86-9EF7-EB56E1AA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любой текущий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05458-7797-4071-B8CA-1D5600BB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213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6C0FC-6503-420C-881F-C56EED69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1 инструмент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6E7F-0807-4D32-A251-8F91A1C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один разрешенный ИИ-сервис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A157A-49DD-4AAE-BE33-C3540EC5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13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C91C3-8144-485D-A2D8-71F61A4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1 критерий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C0F29-01C6-4ACC-8218-9119BC6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что именно проверяем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6D71F-C6CB-47EF-9F9D-048DB7E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213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1B8D4-78A5-4FFC-840D-629D295E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1"/>
                </a:solidFill>
                <a:latin typeface="Aptos Display"/>
                <a:ea typeface="Aptos Display"/>
                <a:cs typeface="Aptos Display"/>
              </a:rPr>
              <a:t>1 вывод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D8C23-9277-420E-AA0C-326FEF26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06D"/>
                </a:solidFill>
                <a:latin typeface="Aptos"/>
                <a:ea typeface="Aptos"/>
                <a:cs typeface="Aptos"/>
              </a:rPr>
              <a:t>что ученик понял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4DF46-E341-423A-B162-0CD3C7A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0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6F0E3"/>
                </a:solidFill>
                <a:latin typeface="Aptos Display"/>
                <a:ea typeface="Aptos Display"/>
                <a:cs typeface="Aptos Display"/>
              </a:rPr>
              <a:t>ИИ становится средством развития функциональной грамотности, когда ученик отвечает не только за ответ, но и за способ его получения.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8B004-530D-4176-8506-FB44A95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DBF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DBF9F"/>
                </a:solidFill>
                <a:latin typeface="Aptos"/>
                <a:ea typeface="Aptos"/>
                <a:cs typeface="Aptos"/>
              </a:rPr>
              <a:t>Источники: OECD PISA 2022 Assessment and Analytical Framework · UNESCO Guidance for generative AI in education and research · UNESCO AI competency framework for teachers</a:t>
            </a:r>
          </a:p>
        </p:txBody>
      </p:sp>
    </p:spTree>
    <p:extLst>
      <p:ext uri="{BB962C8B-B14F-4D97-AF65-F5344CB8AC3E}">
        <p14:creationId xmlns:p14="http://schemas.microsoft.com/office/powerpoint/2010/main" val="1797671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2026-06-18T07:14:17.6960000Z</dcterms:created>
  <dcterms:modified xsi:type="dcterms:W3CDTF">2026-06-18T07:14:17.6970000Z</dcterms:modified>
</coreProperties>
</file>